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A9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85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99A1C-3FD4-48EA-87EE-962C3B1CB8D8}" type="datetimeFigureOut">
              <a:rPr lang="fr-FR" smtClean="0"/>
              <a:t>05/06/2025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3BB05-5686-4C31-A857-160A92077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8108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FD8A-6612-4FE5-B3BB-0E3F7E69EA72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2980-A8C5-438F-B5F3-84D3140EDA73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C1D8-F925-455E-881F-C0CAEA97126D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9F48-436D-4871-A6A9-E7CD89DBCC2A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87243-31FD-4A2B-B62F-233A21B04DA9}" type="datetime1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0464-D2DD-4525-900C-863740AAE147}" type="datetime1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3A60-108A-4377-8920-C836273FC144}" type="datetime1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B53F-D232-4E48-A4C9-69B8389FA73B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D5396-9C72-400C-A461-86695897DD11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CC20-B205-4A09-84EE-40904AC95A28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8D63-866F-4CFD-83DA-CB3F7B1900A6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6BF98-D6F6-4180-825C-02D9579408C8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09623" y="2644163"/>
            <a:ext cx="5918536" cy="2226661"/>
          </a:xfrm>
        </p:spPr>
        <p:txBody>
          <a:bodyPr anchor="b">
            <a:normAutofit/>
          </a:bodyPr>
          <a:lstStyle/>
          <a:p>
            <a:pPr algn="l"/>
            <a:r>
              <a:rPr lang="fr-FR" sz="4200" noProof="0" dirty="0"/>
              <a:t>Projet DWWM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9297" y="5300032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fr-FR" noProof="0" dirty="0">
                <a:solidFill>
                  <a:schemeClr val="tx1"/>
                </a:solidFill>
              </a:rPr>
              <a:t>Candidat : Quentin FABER</a:t>
            </a:r>
          </a:p>
          <a:p>
            <a:pPr algn="l"/>
            <a:r>
              <a:rPr lang="fr-FR" noProof="0" dirty="0">
                <a:solidFill>
                  <a:schemeClr val="tx1"/>
                </a:solidFill>
              </a:rPr>
              <a:t>Certification DWWM Juin 2025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86B3893C-DD32-A3C6-1A0B-DFA1B339C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</a:t>
            </a:fld>
            <a:endParaRPr lang="fr-FR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3500" noProof="0" dirty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168" y="1017194"/>
            <a:ext cx="491651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700" noProof="0" dirty="0"/>
              <a:t>Contexte du projet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Objectifs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Public visé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Analyse des besoins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Contraintes techniques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Cahier des charges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Architecture technique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Schéma d’architecture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Modélisation des données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Maquettes et UI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Réalisation Frontend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Réalisation Backend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Déploiement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Tests et validation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Résultats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Perspectives d’évolution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Compétences acquises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Zoom fonctionnel</a:t>
            </a:r>
          </a:p>
          <a:p>
            <a:pPr>
              <a:lnSpc>
                <a:spcPct val="90000"/>
              </a:lnSpc>
            </a:pPr>
            <a:r>
              <a:rPr lang="fr-FR" sz="1700" noProof="0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5CE3C-E42D-EB66-35CA-F137493D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2</a:t>
            </a:fld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B6971B-E25C-A07D-0709-F32C54BFC096}"/>
              </a:ext>
            </a:extLst>
          </p:cNvPr>
          <p:cNvSpPr/>
          <p:nvPr/>
        </p:nvSpPr>
        <p:spPr>
          <a:xfrm>
            <a:off x="-724846" y="125190"/>
            <a:ext cx="6005972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noProof="0" dirty="0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Sommaire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3538" y="1446045"/>
            <a:ext cx="4916510" cy="2827375"/>
          </a:xfrm>
          <a:noFill/>
        </p:spPr>
        <p:txBody>
          <a:bodyPr anchor="ctr">
            <a:normAutofit/>
          </a:bodyPr>
          <a:lstStyle/>
          <a:p>
            <a:r>
              <a:rPr lang="fr-FR" sz="1700" b="1" noProof="0" dirty="0"/>
              <a:t>Création d'une plateforme complète pour la vente de photo et œuvres graphiques.</a:t>
            </a:r>
          </a:p>
          <a:p>
            <a:endParaRPr lang="fr-FR" sz="1700" b="1" noProof="0" dirty="0"/>
          </a:p>
          <a:p>
            <a:r>
              <a:rPr lang="fr-FR" sz="1700" b="1" noProof="0" dirty="0"/>
              <a:t>Centralisation des services photo, galerie, tirage, paiement et gestion admin.</a:t>
            </a:r>
          </a:p>
          <a:p>
            <a:endParaRPr lang="fr-FR" sz="1700" b="1" noProof="0" dirty="0"/>
          </a:p>
          <a:p>
            <a:r>
              <a:rPr lang="fr-FR" sz="1700" b="1" noProof="0" dirty="0"/>
              <a:t>Projet réalisé dans le cadre de la formation DWWM.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F366F7-84FC-6C88-547E-7453E887FB89}"/>
              </a:ext>
            </a:extLst>
          </p:cNvPr>
          <p:cNvSpPr/>
          <p:nvPr/>
        </p:nvSpPr>
        <p:spPr>
          <a:xfrm>
            <a:off x="217546" y="9531"/>
            <a:ext cx="7234674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noProof="0" dirty="0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Contexte du Projet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5552D-A621-572A-4063-CBC95D92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3</a:t>
            </a:fld>
            <a:endParaRPr lang="fr-FR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5E725-99BC-F07B-7CCC-21FDD5F4C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883" y="4089626"/>
            <a:ext cx="5056065" cy="2449286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DB20C-56A7-ACDE-2635-A449100FD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4</a:t>
            </a:fld>
            <a:endParaRPr lang="fr-FR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FFA423-13B4-EB5C-5ABF-BC1A42BF3953}"/>
              </a:ext>
            </a:extLst>
          </p:cNvPr>
          <p:cNvSpPr/>
          <p:nvPr/>
        </p:nvSpPr>
        <p:spPr>
          <a:xfrm>
            <a:off x="123005" y="0"/>
            <a:ext cx="6901249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noProof="0" dirty="0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Objectif du projet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345C41E-7628-FB4A-4EA6-AFD3FCC56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8" y="1387339"/>
            <a:ext cx="2997951" cy="15016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AFCD09-E6E8-D261-DA60-94EB6B8D3F00}"/>
              </a:ext>
            </a:extLst>
          </p:cNvPr>
          <p:cNvSpPr txBox="1"/>
          <p:nvPr/>
        </p:nvSpPr>
        <p:spPr>
          <a:xfrm>
            <a:off x="3491349" y="1584174"/>
            <a:ext cx="47495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noProof="0" dirty="0"/>
              <a:t>Mettre en valeur les œuvres photographiques et photo-graphistes du client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0BC597A-A7A9-1822-519D-E9179B163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98" y="3135645"/>
            <a:ext cx="2940377" cy="15016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64E0A4-4207-3B30-BDEA-8F7A67425F81}"/>
              </a:ext>
            </a:extLst>
          </p:cNvPr>
          <p:cNvSpPr txBox="1"/>
          <p:nvPr/>
        </p:nvSpPr>
        <p:spPr>
          <a:xfrm>
            <a:off x="4189444" y="3671657"/>
            <a:ext cx="43873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noProof="0" dirty="0"/>
              <a:t>Ajout au panier et vente en ligne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471125B-E4D6-627C-4455-2807F99CF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645" y="4907410"/>
            <a:ext cx="3200940" cy="181406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39988F4-9992-AA47-C266-3FA658C8854D}"/>
              </a:ext>
            </a:extLst>
          </p:cNvPr>
          <p:cNvSpPr txBox="1"/>
          <p:nvPr/>
        </p:nvSpPr>
        <p:spPr>
          <a:xfrm>
            <a:off x="5572074" y="5380004"/>
            <a:ext cx="32009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noProof="0" dirty="0"/>
              <a:t>Gestion autonome via une interface admin sécurisée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CC9DA-8F47-9365-807B-43D47359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5</a:t>
            </a:fld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258CD5-BECF-7023-116C-D5FB2F3E4A14}"/>
              </a:ext>
            </a:extLst>
          </p:cNvPr>
          <p:cNvSpPr/>
          <p:nvPr/>
        </p:nvSpPr>
        <p:spPr>
          <a:xfrm>
            <a:off x="402494" y="17895"/>
            <a:ext cx="4083170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noProof="0" dirty="0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Public </a:t>
            </a:r>
            <a:r>
              <a:rPr lang="fr-FR" sz="5400" noProof="0" dirty="0" err="1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visÉ</a:t>
            </a:r>
            <a:endParaRPr lang="fr-FR" sz="5400" noProof="0" dirty="0">
              <a:ln w="0"/>
              <a:solidFill>
                <a:srgbClr val="C4A908"/>
              </a:soli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0F24CC0-1CAB-7D98-70E0-6F20564BFB6D}"/>
              </a:ext>
            </a:extLst>
          </p:cNvPr>
          <p:cNvSpPr txBox="1"/>
          <p:nvPr/>
        </p:nvSpPr>
        <p:spPr>
          <a:xfrm>
            <a:off x="3917575" y="1586753"/>
            <a:ext cx="379207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Professionnels du graphisme et de la photographie</a:t>
            </a:r>
          </a:p>
          <a:p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EF50E9E-01AA-0FBD-2E49-F9139F5C3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779" y="1188729"/>
            <a:ext cx="2950810" cy="150151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A53AAE0A-85D1-2C01-2420-7EE26CB4DCE5}"/>
              </a:ext>
            </a:extLst>
          </p:cNvPr>
          <p:cNvSpPr txBox="1"/>
          <p:nvPr/>
        </p:nvSpPr>
        <p:spPr>
          <a:xfrm>
            <a:off x="4876800" y="3429000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Amateurs d’art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484AD2B-9E7E-F1A8-8262-99E5C2E3C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248" y="2937752"/>
            <a:ext cx="2537012" cy="150607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243C5815-8E90-6A47-D83E-175073992B05}"/>
              </a:ext>
            </a:extLst>
          </p:cNvPr>
          <p:cNvSpPr txBox="1"/>
          <p:nvPr/>
        </p:nvSpPr>
        <p:spPr>
          <a:xfrm>
            <a:off x="5813610" y="5378824"/>
            <a:ext cx="20708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Collectionneurs 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65243E8-41C5-B0FA-9C8B-325E576DA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542" y="4736863"/>
            <a:ext cx="2244915" cy="171480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9530" y="1587126"/>
            <a:ext cx="8229600" cy="4742330"/>
          </a:xfrm>
        </p:spPr>
        <p:txBody>
          <a:bodyPr>
            <a:normAutofit/>
          </a:bodyPr>
          <a:lstStyle/>
          <a:p>
            <a:r>
              <a:rPr lang="fr-FR" sz="2800" noProof="0" dirty="0"/>
              <a:t>Galeries de photos et œuvres graphiques</a:t>
            </a:r>
          </a:p>
          <a:p>
            <a:endParaRPr lang="fr-FR" sz="2800" noProof="0" dirty="0"/>
          </a:p>
          <a:p>
            <a:r>
              <a:rPr lang="fr-FR" sz="2800" noProof="0" dirty="0"/>
              <a:t>Tirage en ligne avec choix de formats</a:t>
            </a:r>
          </a:p>
          <a:p>
            <a:endParaRPr lang="fr-FR" sz="2800" noProof="0" dirty="0"/>
          </a:p>
          <a:p>
            <a:r>
              <a:rPr lang="fr-FR" sz="2800" noProof="0" dirty="0"/>
              <a:t>Panier et paiement en ligne sécurisé (</a:t>
            </a:r>
            <a:r>
              <a:rPr lang="fr-FR" sz="2800" noProof="0" dirty="0" err="1"/>
              <a:t>Stripe</a:t>
            </a:r>
            <a:r>
              <a:rPr lang="fr-FR" sz="2800" noProof="0" dirty="0"/>
              <a:t>)</a:t>
            </a:r>
          </a:p>
          <a:p>
            <a:endParaRPr lang="fr-FR" sz="2800" noProof="0" dirty="0"/>
          </a:p>
          <a:p>
            <a:r>
              <a:rPr lang="fr-FR" sz="2800" noProof="0" dirty="0"/>
              <a:t>Gestion admin des contenus, tarifs et événements</a:t>
            </a:r>
          </a:p>
          <a:p>
            <a:endParaRPr lang="fr-FR" sz="2800" noProof="0" dirty="0"/>
          </a:p>
          <a:p>
            <a:r>
              <a:rPr lang="fr-FR" sz="2800" noProof="0" dirty="0"/>
              <a:t>Espace client sécurisé avec authentification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39A9F-42E5-5392-ED4C-594C694B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6</a:t>
            </a:fld>
            <a:endParaRPr lang="fr-FR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2374B-7B21-BA20-A81E-68BBA1E7A38E}"/>
              </a:ext>
            </a:extLst>
          </p:cNvPr>
          <p:cNvSpPr/>
          <p:nvPr/>
        </p:nvSpPr>
        <p:spPr>
          <a:xfrm>
            <a:off x="216687" y="270172"/>
            <a:ext cx="7574509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noProof="0" dirty="0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Analyse des besoins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C8FF49-C710-A5AC-46C0-F06151FEB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1" y="1360907"/>
            <a:ext cx="1418501" cy="87390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C031331-8D0A-38D7-1A1E-8A3E7B8DF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41" y="2402220"/>
            <a:ext cx="1418501" cy="102678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A3E5A88-14DF-97CA-31D4-D825AC9F0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41" y="3596405"/>
            <a:ext cx="1413743" cy="92889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Contraintes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Application responsive mobile / desktop</a:t>
            </a:r>
          </a:p>
          <a:p>
            <a:r>
              <a:rPr lang="fr-FR" noProof="0" dirty="0"/>
              <a:t>Respect de l'accessibilité (images, contrastes)</a:t>
            </a:r>
          </a:p>
          <a:p>
            <a:r>
              <a:rPr lang="fr-FR" noProof="0" dirty="0"/>
              <a:t>Conformité RGPD (données clients sécurisées)</a:t>
            </a:r>
          </a:p>
          <a:p>
            <a:r>
              <a:rPr lang="fr-FR" noProof="0" dirty="0"/>
              <a:t>Optimisation du SEO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A7737-57AE-8D08-ED86-346EE9D7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7</a:t>
            </a:fld>
            <a:endParaRPr lang="fr-FR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Cahier des charges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Frontend : React 19, Vite, Tailwind, Zustand</a:t>
            </a:r>
          </a:p>
          <a:p>
            <a:r>
              <a:rPr lang="fr-FR" noProof="0" dirty="0"/>
              <a:t>Backend : Node.js, Express, MongoDB, JWT</a:t>
            </a:r>
          </a:p>
          <a:p>
            <a:r>
              <a:rPr lang="fr-FR" noProof="0" dirty="0"/>
              <a:t>Paiement : </a:t>
            </a:r>
            <a:r>
              <a:rPr lang="fr-FR" noProof="0" dirty="0" err="1"/>
              <a:t>Stripe</a:t>
            </a:r>
            <a:r>
              <a:rPr lang="fr-FR" noProof="0" dirty="0"/>
              <a:t> API</a:t>
            </a:r>
          </a:p>
          <a:p>
            <a:r>
              <a:rPr lang="fr-FR" noProof="0" dirty="0"/>
              <a:t>Déploiement : Docker / Docker Compose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1BD11-8DB2-2BB7-652D-3B789810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8</a:t>
            </a:fld>
            <a:endParaRPr lang="fr-FR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Architecture </a:t>
            </a:r>
            <a:r>
              <a:rPr lang="fr-FR" noProof="0" dirty="0" err="1"/>
              <a:t>fullstack</a:t>
            </a:r>
            <a:r>
              <a:rPr lang="fr-FR" noProof="0" dirty="0"/>
              <a:t> :</a:t>
            </a:r>
          </a:p>
          <a:p>
            <a:pPr marL="0" indent="0">
              <a:buNone/>
            </a:pPr>
            <a:r>
              <a:rPr lang="fr-FR" noProof="0" dirty="0"/>
              <a:t>     - Frontend React (photographie/)</a:t>
            </a:r>
          </a:p>
          <a:p>
            <a:pPr marL="0" indent="0">
              <a:buNone/>
            </a:pPr>
            <a:r>
              <a:rPr lang="fr-FR" noProof="0" dirty="0"/>
              <a:t>     - Backend Express (backend/)</a:t>
            </a:r>
          </a:p>
          <a:p>
            <a:pPr marL="0" indent="0">
              <a:buNone/>
            </a:pPr>
            <a:r>
              <a:rPr lang="fr-FR" noProof="0" dirty="0"/>
              <a:t>     - BDD MongoDB + Neo4j (Docker)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DC1B6-9F05-7A28-E057-5D15FC51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9</a:t>
            </a:fld>
            <a:endParaRPr lang="fr-F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Modélisation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9882" y="1610565"/>
            <a:ext cx="8229600" cy="4525963"/>
          </a:xfrm>
        </p:spPr>
        <p:txBody>
          <a:bodyPr/>
          <a:lstStyle/>
          <a:p>
            <a:r>
              <a:rPr lang="fr-FR" noProof="0" dirty="0"/>
              <a:t>Collections principales MongoDB :</a:t>
            </a:r>
          </a:p>
          <a:p>
            <a:pPr lvl="1"/>
            <a:r>
              <a:rPr lang="fr-FR" noProof="0" dirty="0"/>
              <a:t> Users</a:t>
            </a:r>
          </a:p>
          <a:p>
            <a:pPr lvl="1"/>
            <a:r>
              <a:rPr lang="fr-FR" noProof="0" dirty="0"/>
              <a:t> Galeries</a:t>
            </a:r>
          </a:p>
          <a:p>
            <a:pPr lvl="1"/>
            <a:r>
              <a:rPr lang="fr-FR" noProof="0" dirty="0"/>
              <a:t> Œuvres graphiques</a:t>
            </a:r>
          </a:p>
          <a:p>
            <a:pPr lvl="1"/>
            <a:r>
              <a:rPr lang="fr-FR" noProof="0" dirty="0"/>
              <a:t> Événements</a:t>
            </a:r>
          </a:p>
          <a:p>
            <a:pPr lvl="1"/>
            <a:r>
              <a:rPr lang="fr-FR" noProof="0" dirty="0"/>
              <a:t> Paniers</a:t>
            </a:r>
          </a:p>
          <a:p>
            <a:pPr lvl="1"/>
            <a:r>
              <a:rPr lang="fr-FR" noProof="0" dirty="0"/>
              <a:t> Paiements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E181B-8CEC-2A78-96C8-047153E0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10</a:t>
            </a:fld>
            <a:endParaRPr lang="fr-FR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Réalisation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React 19 avec TypeScript et Vite</a:t>
            </a:r>
          </a:p>
          <a:p>
            <a:r>
              <a:rPr lang="fr-FR" noProof="0" dirty="0"/>
              <a:t>Gestion du </a:t>
            </a:r>
            <a:r>
              <a:rPr lang="fr-FR" noProof="0" dirty="0" err="1"/>
              <a:t>routing</a:t>
            </a:r>
            <a:r>
              <a:rPr lang="fr-FR" noProof="0" dirty="0"/>
              <a:t> avec React Router</a:t>
            </a:r>
          </a:p>
          <a:p>
            <a:r>
              <a:rPr lang="fr-FR" noProof="0" dirty="0"/>
              <a:t>Formulaires validés par React Hook Form + Zod</a:t>
            </a:r>
          </a:p>
          <a:p>
            <a:r>
              <a:rPr lang="fr-FR" noProof="0" dirty="0"/>
              <a:t>Zustand pour l'état global (auth, panier, choix utilisateur)</a:t>
            </a:r>
          </a:p>
          <a:p>
            <a:r>
              <a:rPr lang="fr-FR" noProof="0" dirty="0"/>
              <a:t>React Query pour le cache des données 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276D8-DCE5-41D3-5EC1-E56182A7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11</a:t>
            </a:fld>
            <a:endParaRPr lang="fr-FR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Réalisation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API REST sécurisée avec Express</a:t>
            </a:r>
          </a:p>
          <a:p>
            <a:r>
              <a:rPr lang="fr-FR" noProof="0" dirty="0"/>
              <a:t>Authentification JWT sécurisée</a:t>
            </a:r>
          </a:p>
          <a:p>
            <a:r>
              <a:rPr lang="fr-FR" noProof="0" dirty="0"/>
              <a:t>Sécurisation des routes admin</a:t>
            </a:r>
          </a:p>
          <a:p>
            <a:r>
              <a:rPr lang="fr-FR" noProof="0" dirty="0"/>
              <a:t>Gestion des </a:t>
            </a:r>
            <a:r>
              <a:rPr lang="fr-FR" noProof="0" dirty="0" err="1"/>
              <a:t>uploads</a:t>
            </a:r>
            <a:r>
              <a:rPr lang="fr-FR" noProof="0" dirty="0"/>
              <a:t> avec Multer</a:t>
            </a:r>
          </a:p>
          <a:p>
            <a:r>
              <a:rPr lang="fr-FR" noProof="0" dirty="0"/>
              <a:t>Contrôle des données avec </a:t>
            </a:r>
            <a:r>
              <a:rPr lang="fr-FR" noProof="0" dirty="0" err="1"/>
              <a:t>Mongoose</a:t>
            </a:r>
            <a:endParaRPr lang="fr-F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CDF26-7ACB-7443-4592-CA290E96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12</a:t>
            </a:fld>
            <a:endParaRPr lang="fr-FR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Déploiement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Docker Compose multi-services (MongoDB, Neo4j, Backend, Mongo Express)</a:t>
            </a:r>
          </a:p>
          <a:p>
            <a:r>
              <a:rPr lang="fr-FR" noProof="0" dirty="0"/>
              <a:t>Volumes persistants pour les données</a:t>
            </a:r>
          </a:p>
          <a:p>
            <a:r>
              <a:rPr lang="fr-FR" noProof="0" dirty="0"/>
              <a:t>Proxy Vite configuré pour développement local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B9FC3-A179-328F-3DC4-380F68722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13</a:t>
            </a:fld>
            <a:endParaRPr lang="fr-FR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Tests et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Tests manuels fonctionnels et utilisateurs</a:t>
            </a:r>
          </a:p>
          <a:p>
            <a:r>
              <a:rPr lang="fr-FR" noProof="0" dirty="0"/>
              <a:t>Vérification de chaque flux (ajout au panier, paiement, validation)</a:t>
            </a:r>
          </a:p>
          <a:p>
            <a:r>
              <a:rPr lang="fr-FR" noProof="0" dirty="0"/>
              <a:t>Correction des bugs d’intégration au fur et à mesure du projet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CD7E3-8ECD-D9F3-8080-860C43D4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14</a:t>
            </a:fld>
            <a:endParaRPr lang="fr-FR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Résultats obtenus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Interface fonctionnelle et ergonomique</a:t>
            </a:r>
          </a:p>
          <a:p>
            <a:r>
              <a:rPr lang="fr-FR" noProof="0" dirty="0"/>
              <a:t>Gestion complète des contenus</a:t>
            </a:r>
          </a:p>
          <a:p>
            <a:r>
              <a:rPr lang="fr-FR" noProof="0" dirty="0"/>
              <a:t>Paiement sécurisé opérationnel (</a:t>
            </a:r>
            <a:r>
              <a:rPr lang="fr-FR" noProof="0" dirty="0" err="1"/>
              <a:t>Stripe</a:t>
            </a:r>
            <a:r>
              <a:rPr lang="fr-FR" noProof="0" dirty="0"/>
              <a:t>)</a:t>
            </a:r>
          </a:p>
          <a:p>
            <a:r>
              <a:rPr lang="fr-FR" noProof="0" dirty="0"/>
              <a:t>Gestion simplifiée par l’administrateur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E41CE-ADF8-08A8-DAF5-C8B015CA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15</a:t>
            </a:fld>
            <a:endParaRPr lang="fr-FR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Perspectives d’évolution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Ajout d’un blog d’actualité</a:t>
            </a:r>
          </a:p>
          <a:p>
            <a:r>
              <a:rPr lang="fr-FR" noProof="0" dirty="0"/>
              <a:t>Module de statistiques d’activité</a:t>
            </a:r>
          </a:p>
          <a:p>
            <a:r>
              <a:rPr lang="fr-FR" noProof="0" dirty="0"/>
              <a:t>Historique de commandes pour les clients</a:t>
            </a:r>
          </a:p>
          <a:p>
            <a:r>
              <a:rPr lang="fr-FR" noProof="0" dirty="0"/>
              <a:t>Mise en place de tests automatisés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BD961-D731-8E4E-B3BB-C231B8D6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16</a:t>
            </a:fld>
            <a:endParaRPr lang="fr-FR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Compétences acquises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Développement </a:t>
            </a:r>
            <a:r>
              <a:rPr lang="fr-FR" noProof="0" dirty="0" err="1"/>
              <a:t>fullstack</a:t>
            </a:r>
            <a:r>
              <a:rPr lang="fr-FR" noProof="0" dirty="0"/>
              <a:t> TypeScript MERN</a:t>
            </a:r>
          </a:p>
          <a:p>
            <a:r>
              <a:rPr lang="fr-FR" noProof="0" dirty="0"/>
              <a:t>Gestion d’état complexe avec Zustand et React Query</a:t>
            </a:r>
          </a:p>
          <a:p>
            <a:r>
              <a:rPr lang="fr-FR" noProof="0" dirty="0"/>
              <a:t>Sécurisation complète des routes API</a:t>
            </a:r>
          </a:p>
          <a:p>
            <a:r>
              <a:rPr lang="fr-FR" noProof="0" dirty="0" err="1"/>
              <a:t>Dockerisation</a:t>
            </a:r>
            <a:r>
              <a:rPr lang="fr-FR" noProof="0" dirty="0"/>
              <a:t> d’une application complète</a:t>
            </a:r>
          </a:p>
          <a:p>
            <a:r>
              <a:rPr lang="fr-FR" noProof="0" dirty="0"/>
              <a:t>Optimisation SEO et accessibilité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71613-B07D-C454-9401-31AD4B6DC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17</a:t>
            </a:fld>
            <a:endParaRPr lang="fr-FR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Zoom Fonctionnalité : Galerie photo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Affichage dynamique des œuvres</a:t>
            </a:r>
          </a:p>
          <a:p>
            <a:r>
              <a:rPr lang="fr-FR" noProof="0" dirty="0"/>
              <a:t>Ajout au panier d’un article via la sélection des formats</a:t>
            </a:r>
          </a:p>
          <a:p>
            <a:r>
              <a:rPr lang="fr-FR" noProof="0" dirty="0"/>
              <a:t>Modal de choix de format intégré</a:t>
            </a:r>
          </a:p>
          <a:p>
            <a:r>
              <a:rPr lang="fr-FR" noProof="0" dirty="0"/>
              <a:t>Validation instantanée avec feedback utilisateur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5DD15-F369-2424-5E9B-30F6F439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18</a:t>
            </a:fld>
            <a:endParaRPr lang="fr-FR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Conclusion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Projet réalisé en autonomie complète (analyse, conception, développement, tests, déploiement)</a:t>
            </a:r>
          </a:p>
          <a:p>
            <a:r>
              <a:rPr lang="fr-FR" noProof="0" dirty="0"/>
              <a:t>Approche professionnelle complète respectant le cycle de vie d’un projet web</a:t>
            </a:r>
          </a:p>
          <a:p>
            <a:r>
              <a:rPr lang="fr-FR" noProof="0" dirty="0"/>
              <a:t>Projet opérationnel prêt à être présenté et mis en production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3EFD4-B9FF-53A0-7FBE-796F0F3D3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noProof="0" smtClean="0"/>
              <a:t>19</a:t>
            </a:fld>
            <a:endParaRPr lang="fr-F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6180</TotalTime>
  <Words>556</Words>
  <Application>Microsoft Office PowerPoint</Application>
  <PresentationFormat>Affichage à l'écran (4:3)</PresentationFormat>
  <Paragraphs>135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Algerian</vt:lpstr>
      <vt:lpstr>Aptos</vt:lpstr>
      <vt:lpstr>Arial</vt:lpstr>
      <vt:lpstr>Calibri</vt:lpstr>
      <vt:lpstr>Office Theme</vt:lpstr>
      <vt:lpstr>Projet DWWM</vt:lpstr>
      <vt:lpstr>Sommaire</vt:lpstr>
      <vt:lpstr>Présentation PowerPoint</vt:lpstr>
      <vt:lpstr>Présentation PowerPoint</vt:lpstr>
      <vt:lpstr>Présentation PowerPoint</vt:lpstr>
      <vt:lpstr>Présentation PowerPoint</vt:lpstr>
      <vt:lpstr>Contraintes techniques</vt:lpstr>
      <vt:lpstr>Cahier des charges</vt:lpstr>
      <vt:lpstr>Architecture technique</vt:lpstr>
      <vt:lpstr>Modélisation des données</vt:lpstr>
      <vt:lpstr>Réalisation Frontend</vt:lpstr>
      <vt:lpstr>Réalisation Backend</vt:lpstr>
      <vt:lpstr>Déploiement</vt:lpstr>
      <vt:lpstr>Tests et validation</vt:lpstr>
      <vt:lpstr>Résultats obtenus</vt:lpstr>
      <vt:lpstr>Perspectives d’évolution</vt:lpstr>
      <vt:lpstr>Compétences acquises</vt:lpstr>
      <vt:lpstr>Zoom Fonctionnalité : Galerie photo</vt:lpstr>
      <vt:lpstr>Conclusion générale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quentin faber</dc:creator>
  <cp:keywords/>
  <dc:description>generated using python-pptx</dc:description>
  <cp:lastModifiedBy>Faber Quentin</cp:lastModifiedBy>
  <cp:revision>6</cp:revision>
  <dcterms:created xsi:type="dcterms:W3CDTF">2013-01-27T09:14:16Z</dcterms:created>
  <dcterms:modified xsi:type="dcterms:W3CDTF">2025-06-09T12:56:55Z</dcterms:modified>
  <cp:category/>
</cp:coreProperties>
</file>