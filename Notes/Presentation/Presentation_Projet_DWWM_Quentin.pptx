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A9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185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98ECF9-2128-4041-B129-058B7729F550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1F35181-AD96-4C81-8C67-6ED416249942}">
      <dgm:prSet/>
      <dgm:spPr/>
      <dgm:t>
        <a:bodyPr/>
        <a:lstStyle/>
        <a:p>
          <a:r>
            <a:rPr lang="en-US"/>
            <a:t>Amateurs d’art</a:t>
          </a:r>
        </a:p>
      </dgm:t>
    </dgm:pt>
    <dgm:pt modelId="{BB22CDAE-E110-4EF7-919E-D7B02B649863}" type="parTrans" cxnId="{74EE54A0-FB54-4007-B407-ECCBC889F35F}">
      <dgm:prSet/>
      <dgm:spPr/>
      <dgm:t>
        <a:bodyPr/>
        <a:lstStyle/>
        <a:p>
          <a:endParaRPr lang="en-US"/>
        </a:p>
      </dgm:t>
    </dgm:pt>
    <dgm:pt modelId="{FF856699-C771-4C52-B2A3-C58C2FC1DC46}" type="sibTrans" cxnId="{74EE54A0-FB54-4007-B407-ECCBC889F35F}">
      <dgm:prSet/>
      <dgm:spPr/>
      <dgm:t>
        <a:bodyPr/>
        <a:lstStyle/>
        <a:p>
          <a:endParaRPr lang="en-US"/>
        </a:p>
      </dgm:t>
    </dgm:pt>
    <dgm:pt modelId="{7E08A528-CFB1-4DFB-968A-61D39DCC349F}">
      <dgm:prSet/>
      <dgm:spPr/>
      <dgm:t>
        <a:bodyPr/>
        <a:lstStyle/>
        <a:p>
          <a:r>
            <a:rPr lang="en-US"/>
            <a:t>Collectionneurs</a:t>
          </a:r>
        </a:p>
      </dgm:t>
    </dgm:pt>
    <dgm:pt modelId="{93234371-27F5-4BC4-9871-2D07037C5F64}" type="parTrans" cxnId="{5D14D5FB-8B22-4321-BD88-79A4B8F79E4E}">
      <dgm:prSet/>
      <dgm:spPr/>
      <dgm:t>
        <a:bodyPr/>
        <a:lstStyle/>
        <a:p>
          <a:endParaRPr lang="en-US"/>
        </a:p>
      </dgm:t>
    </dgm:pt>
    <dgm:pt modelId="{57DEA23E-EA29-4AEB-9360-50B2DB0C45A1}" type="sibTrans" cxnId="{5D14D5FB-8B22-4321-BD88-79A4B8F79E4E}">
      <dgm:prSet/>
      <dgm:spPr/>
      <dgm:t>
        <a:bodyPr/>
        <a:lstStyle/>
        <a:p>
          <a:endParaRPr lang="en-US"/>
        </a:p>
      </dgm:t>
    </dgm:pt>
    <dgm:pt modelId="{747BC1F3-CBC6-431F-A0FB-742CED1B2136}">
      <dgm:prSet/>
      <dgm:spPr/>
      <dgm:t>
        <a:bodyPr/>
        <a:lstStyle/>
        <a:p>
          <a:r>
            <a:rPr lang="en-US"/>
            <a:t>Professionnels du graphisme et de la photographie</a:t>
          </a:r>
        </a:p>
      </dgm:t>
    </dgm:pt>
    <dgm:pt modelId="{A488CAFE-F56C-4AB2-BB21-E52749972320}" type="parTrans" cxnId="{68465F4C-4EE4-4851-8FE4-7FAB5A434693}">
      <dgm:prSet/>
      <dgm:spPr/>
      <dgm:t>
        <a:bodyPr/>
        <a:lstStyle/>
        <a:p>
          <a:endParaRPr lang="en-US"/>
        </a:p>
      </dgm:t>
    </dgm:pt>
    <dgm:pt modelId="{1885C608-929C-40E6-B30D-BA0B33C4B51C}" type="sibTrans" cxnId="{68465F4C-4EE4-4851-8FE4-7FAB5A434693}">
      <dgm:prSet/>
      <dgm:spPr/>
      <dgm:t>
        <a:bodyPr/>
        <a:lstStyle/>
        <a:p>
          <a:endParaRPr lang="en-US"/>
        </a:p>
      </dgm:t>
    </dgm:pt>
    <dgm:pt modelId="{4E20BE84-D53E-40B0-95A0-9D30B21BB887}" type="pres">
      <dgm:prSet presAssocID="{B298ECF9-2128-4041-B129-058B7729F550}" presName="cycle" presStyleCnt="0">
        <dgm:presLayoutVars>
          <dgm:dir/>
          <dgm:resizeHandles val="exact"/>
        </dgm:presLayoutVars>
      </dgm:prSet>
      <dgm:spPr/>
    </dgm:pt>
    <dgm:pt modelId="{37303C4E-27D7-4642-B630-25EC9AD6E7D7}" type="pres">
      <dgm:prSet presAssocID="{61F35181-AD96-4C81-8C67-6ED416249942}" presName="dummy" presStyleCnt="0"/>
      <dgm:spPr/>
    </dgm:pt>
    <dgm:pt modelId="{653D044F-1314-46E2-8B64-79E6D71975D9}" type="pres">
      <dgm:prSet presAssocID="{61F35181-AD96-4C81-8C67-6ED416249942}" presName="node" presStyleLbl="revTx" presStyleIdx="0" presStyleCnt="3">
        <dgm:presLayoutVars>
          <dgm:bulletEnabled val="1"/>
        </dgm:presLayoutVars>
      </dgm:prSet>
      <dgm:spPr/>
    </dgm:pt>
    <dgm:pt modelId="{FF7FEC96-F922-4A8C-9116-D367B83839A7}" type="pres">
      <dgm:prSet presAssocID="{FF856699-C771-4C52-B2A3-C58C2FC1DC46}" presName="sibTrans" presStyleLbl="node1" presStyleIdx="0" presStyleCnt="3"/>
      <dgm:spPr/>
    </dgm:pt>
    <dgm:pt modelId="{E25B26D7-8EA3-4BA5-B41F-72DB1A8C4E74}" type="pres">
      <dgm:prSet presAssocID="{7E08A528-CFB1-4DFB-968A-61D39DCC349F}" presName="dummy" presStyleCnt="0"/>
      <dgm:spPr/>
    </dgm:pt>
    <dgm:pt modelId="{45A3494D-1850-4A42-B58F-F655EC5BCEFC}" type="pres">
      <dgm:prSet presAssocID="{7E08A528-CFB1-4DFB-968A-61D39DCC349F}" presName="node" presStyleLbl="revTx" presStyleIdx="1" presStyleCnt="3">
        <dgm:presLayoutVars>
          <dgm:bulletEnabled val="1"/>
        </dgm:presLayoutVars>
      </dgm:prSet>
      <dgm:spPr/>
    </dgm:pt>
    <dgm:pt modelId="{CF729E3C-FDE2-49B7-AAAB-378322B0B1CF}" type="pres">
      <dgm:prSet presAssocID="{57DEA23E-EA29-4AEB-9360-50B2DB0C45A1}" presName="sibTrans" presStyleLbl="node1" presStyleIdx="1" presStyleCnt="3"/>
      <dgm:spPr/>
    </dgm:pt>
    <dgm:pt modelId="{E7D495DD-4883-4E5E-AF3D-AE2D6D42B107}" type="pres">
      <dgm:prSet presAssocID="{747BC1F3-CBC6-431F-A0FB-742CED1B2136}" presName="dummy" presStyleCnt="0"/>
      <dgm:spPr/>
    </dgm:pt>
    <dgm:pt modelId="{FC1713C5-BF57-41C9-B302-892B39F1D4CA}" type="pres">
      <dgm:prSet presAssocID="{747BC1F3-CBC6-431F-A0FB-742CED1B2136}" presName="node" presStyleLbl="revTx" presStyleIdx="2" presStyleCnt="3">
        <dgm:presLayoutVars>
          <dgm:bulletEnabled val="1"/>
        </dgm:presLayoutVars>
      </dgm:prSet>
      <dgm:spPr/>
    </dgm:pt>
    <dgm:pt modelId="{E79F90B2-80B6-4B10-B27D-DE3CC2F65B65}" type="pres">
      <dgm:prSet presAssocID="{1885C608-929C-40E6-B30D-BA0B33C4B51C}" presName="sibTrans" presStyleLbl="node1" presStyleIdx="2" presStyleCnt="3"/>
      <dgm:spPr/>
    </dgm:pt>
  </dgm:ptLst>
  <dgm:cxnLst>
    <dgm:cxn modelId="{8C2B3008-A247-4BAE-8DAB-3C7613994F6C}" type="presOf" srcId="{1885C608-929C-40E6-B30D-BA0B33C4B51C}" destId="{E79F90B2-80B6-4B10-B27D-DE3CC2F65B65}" srcOrd="0" destOrd="0" presId="urn:microsoft.com/office/officeart/2005/8/layout/cycle1"/>
    <dgm:cxn modelId="{A93E6F28-8C04-4D45-828A-D800466BCA47}" type="presOf" srcId="{7E08A528-CFB1-4DFB-968A-61D39DCC349F}" destId="{45A3494D-1850-4A42-B58F-F655EC5BCEFC}" srcOrd="0" destOrd="0" presId="urn:microsoft.com/office/officeart/2005/8/layout/cycle1"/>
    <dgm:cxn modelId="{68465F4C-4EE4-4851-8FE4-7FAB5A434693}" srcId="{B298ECF9-2128-4041-B129-058B7729F550}" destId="{747BC1F3-CBC6-431F-A0FB-742CED1B2136}" srcOrd="2" destOrd="0" parTransId="{A488CAFE-F56C-4AB2-BB21-E52749972320}" sibTransId="{1885C608-929C-40E6-B30D-BA0B33C4B51C}"/>
    <dgm:cxn modelId="{66662D72-29D5-4B12-97E4-516D40249035}" type="presOf" srcId="{57DEA23E-EA29-4AEB-9360-50B2DB0C45A1}" destId="{CF729E3C-FDE2-49B7-AAAB-378322B0B1CF}" srcOrd="0" destOrd="0" presId="urn:microsoft.com/office/officeart/2005/8/layout/cycle1"/>
    <dgm:cxn modelId="{E9EFD79E-34EF-4E6B-93CA-F4C1AFC88B0C}" type="presOf" srcId="{61F35181-AD96-4C81-8C67-6ED416249942}" destId="{653D044F-1314-46E2-8B64-79E6D71975D9}" srcOrd="0" destOrd="0" presId="urn:microsoft.com/office/officeart/2005/8/layout/cycle1"/>
    <dgm:cxn modelId="{B75EF59E-3CDC-47D3-B1A5-6B0C2ABC406A}" type="presOf" srcId="{FF856699-C771-4C52-B2A3-C58C2FC1DC46}" destId="{FF7FEC96-F922-4A8C-9116-D367B83839A7}" srcOrd="0" destOrd="0" presId="urn:microsoft.com/office/officeart/2005/8/layout/cycle1"/>
    <dgm:cxn modelId="{74EE54A0-FB54-4007-B407-ECCBC889F35F}" srcId="{B298ECF9-2128-4041-B129-058B7729F550}" destId="{61F35181-AD96-4C81-8C67-6ED416249942}" srcOrd="0" destOrd="0" parTransId="{BB22CDAE-E110-4EF7-919E-D7B02B649863}" sibTransId="{FF856699-C771-4C52-B2A3-C58C2FC1DC46}"/>
    <dgm:cxn modelId="{18F759B4-062C-45F1-B982-760D0F318ACA}" type="presOf" srcId="{747BC1F3-CBC6-431F-A0FB-742CED1B2136}" destId="{FC1713C5-BF57-41C9-B302-892B39F1D4CA}" srcOrd="0" destOrd="0" presId="urn:microsoft.com/office/officeart/2005/8/layout/cycle1"/>
    <dgm:cxn modelId="{1F344BF3-9DE8-491F-80A7-DE14E32D6038}" type="presOf" srcId="{B298ECF9-2128-4041-B129-058B7729F550}" destId="{4E20BE84-D53E-40B0-95A0-9D30B21BB887}" srcOrd="0" destOrd="0" presId="urn:microsoft.com/office/officeart/2005/8/layout/cycle1"/>
    <dgm:cxn modelId="{5D14D5FB-8B22-4321-BD88-79A4B8F79E4E}" srcId="{B298ECF9-2128-4041-B129-058B7729F550}" destId="{7E08A528-CFB1-4DFB-968A-61D39DCC349F}" srcOrd="1" destOrd="0" parTransId="{93234371-27F5-4BC4-9871-2D07037C5F64}" sibTransId="{57DEA23E-EA29-4AEB-9360-50B2DB0C45A1}"/>
    <dgm:cxn modelId="{027559D5-8302-461A-B1A7-47EB66474CA2}" type="presParOf" srcId="{4E20BE84-D53E-40B0-95A0-9D30B21BB887}" destId="{37303C4E-27D7-4642-B630-25EC9AD6E7D7}" srcOrd="0" destOrd="0" presId="urn:microsoft.com/office/officeart/2005/8/layout/cycle1"/>
    <dgm:cxn modelId="{D186307D-C639-4DB5-89DF-06E926349734}" type="presParOf" srcId="{4E20BE84-D53E-40B0-95A0-9D30B21BB887}" destId="{653D044F-1314-46E2-8B64-79E6D71975D9}" srcOrd="1" destOrd="0" presId="urn:microsoft.com/office/officeart/2005/8/layout/cycle1"/>
    <dgm:cxn modelId="{6543DB51-867F-4019-84E8-D429A44039B6}" type="presParOf" srcId="{4E20BE84-D53E-40B0-95A0-9D30B21BB887}" destId="{FF7FEC96-F922-4A8C-9116-D367B83839A7}" srcOrd="2" destOrd="0" presId="urn:microsoft.com/office/officeart/2005/8/layout/cycle1"/>
    <dgm:cxn modelId="{F48D0A9E-CE1F-4F5E-B4F2-0ADBE6B81D76}" type="presParOf" srcId="{4E20BE84-D53E-40B0-95A0-9D30B21BB887}" destId="{E25B26D7-8EA3-4BA5-B41F-72DB1A8C4E74}" srcOrd="3" destOrd="0" presId="urn:microsoft.com/office/officeart/2005/8/layout/cycle1"/>
    <dgm:cxn modelId="{FE1A5DBE-ABF8-410F-A45D-5390B923FBDB}" type="presParOf" srcId="{4E20BE84-D53E-40B0-95A0-9D30B21BB887}" destId="{45A3494D-1850-4A42-B58F-F655EC5BCEFC}" srcOrd="4" destOrd="0" presId="urn:microsoft.com/office/officeart/2005/8/layout/cycle1"/>
    <dgm:cxn modelId="{6D250B11-8316-4C88-AC18-8287BBCAAFB8}" type="presParOf" srcId="{4E20BE84-D53E-40B0-95A0-9D30B21BB887}" destId="{CF729E3C-FDE2-49B7-AAAB-378322B0B1CF}" srcOrd="5" destOrd="0" presId="urn:microsoft.com/office/officeart/2005/8/layout/cycle1"/>
    <dgm:cxn modelId="{556E0C91-AFF2-4424-8960-8160AC692246}" type="presParOf" srcId="{4E20BE84-D53E-40B0-95A0-9D30B21BB887}" destId="{E7D495DD-4883-4E5E-AF3D-AE2D6D42B107}" srcOrd="6" destOrd="0" presId="urn:microsoft.com/office/officeart/2005/8/layout/cycle1"/>
    <dgm:cxn modelId="{E2FEA74B-EE27-4646-91F7-FB362233C65A}" type="presParOf" srcId="{4E20BE84-D53E-40B0-95A0-9D30B21BB887}" destId="{FC1713C5-BF57-41C9-B302-892B39F1D4CA}" srcOrd="7" destOrd="0" presId="urn:microsoft.com/office/officeart/2005/8/layout/cycle1"/>
    <dgm:cxn modelId="{246B6F58-711F-4B10-B993-A1D2ED41A1D8}" type="presParOf" srcId="{4E20BE84-D53E-40B0-95A0-9D30B21BB887}" destId="{E79F90B2-80B6-4B10-B27D-DE3CC2F65B65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3D044F-1314-46E2-8B64-79E6D71975D9}">
      <dsp:nvSpPr>
        <dsp:cNvPr id="0" name=""/>
        <dsp:cNvSpPr/>
      </dsp:nvSpPr>
      <dsp:spPr>
        <a:xfrm>
          <a:off x="4636237" y="309709"/>
          <a:ext cx="1580746" cy="1580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Amateurs d’art</a:t>
          </a:r>
        </a:p>
      </dsp:txBody>
      <dsp:txXfrm>
        <a:off x="4636237" y="309709"/>
        <a:ext cx="1580746" cy="1580746"/>
      </dsp:txXfrm>
    </dsp:sp>
    <dsp:sp modelId="{FF7FEC96-F922-4A8C-9116-D367B83839A7}">
      <dsp:nvSpPr>
        <dsp:cNvPr id="0" name=""/>
        <dsp:cNvSpPr/>
      </dsp:nvSpPr>
      <dsp:spPr>
        <a:xfrm>
          <a:off x="2229780" y="-960"/>
          <a:ext cx="3736309" cy="3736309"/>
        </a:xfrm>
        <a:prstGeom prst="circularArrow">
          <a:avLst>
            <a:gd name="adj1" fmla="val 8250"/>
            <a:gd name="adj2" fmla="val 576249"/>
            <a:gd name="adj3" fmla="val 2963253"/>
            <a:gd name="adj4" fmla="val 52126"/>
            <a:gd name="adj5" fmla="val 9625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3494D-1850-4A42-B58F-F655EC5BCEFC}">
      <dsp:nvSpPr>
        <dsp:cNvPr id="0" name=""/>
        <dsp:cNvSpPr/>
      </dsp:nvSpPr>
      <dsp:spPr>
        <a:xfrm>
          <a:off x="3307562" y="2611042"/>
          <a:ext cx="1580746" cy="1580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Collectionneurs</a:t>
          </a:r>
        </a:p>
      </dsp:txBody>
      <dsp:txXfrm>
        <a:off x="3307562" y="2611042"/>
        <a:ext cx="1580746" cy="1580746"/>
      </dsp:txXfrm>
    </dsp:sp>
    <dsp:sp modelId="{CF729E3C-FDE2-49B7-AAAB-378322B0B1CF}">
      <dsp:nvSpPr>
        <dsp:cNvPr id="0" name=""/>
        <dsp:cNvSpPr/>
      </dsp:nvSpPr>
      <dsp:spPr>
        <a:xfrm>
          <a:off x="2229780" y="-960"/>
          <a:ext cx="3736309" cy="3736309"/>
        </a:xfrm>
        <a:prstGeom prst="circularArrow">
          <a:avLst>
            <a:gd name="adj1" fmla="val 8250"/>
            <a:gd name="adj2" fmla="val 576249"/>
            <a:gd name="adj3" fmla="val 10171625"/>
            <a:gd name="adj4" fmla="val 7260498"/>
            <a:gd name="adj5" fmla="val 9625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1713C5-BF57-41C9-B302-892B39F1D4CA}">
      <dsp:nvSpPr>
        <dsp:cNvPr id="0" name=""/>
        <dsp:cNvSpPr/>
      </dsp:nvSpPr>
      <dsp:spPr>
        <a:xfrm>
          <a:off x="1978886" y="309709"/>
          <a:ext cx="1580746" cy="15807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Professionnels du graphisme et de la photographie</a:t>
          </a:r>
        </a:p>
      </dsp:txBody>
      <dsp:txXfrm>
        <a:off x="1978886" y="309709"/>
        <a:ext cx="1580746" cy="1580746"/>
      </dsp:txXfrm>
    </dsp:sp>
    <dsp:sp modelId="{E79F90B2-80B6-4B10-B27D-DE3CC2F65B65}">
      <dsp:nvSpPr>
        <dsp:cNvPr id="0" name=""/>
        <dsp:cNvSpPr/>
      </dsp:nvSpPr>
      <dsp:spPr>
        <a:xfrm>
          <a:off x="2229780" y="-960"/>
          <a:ext cx="3736309" cy="3736309"/>
        </a:xfrm>
        <a:prstGeom prst="circularArrow">
          <a:avLst>
            <a:gd name="adj1" fmla="val 8250"/>
            <a:gd name="adj2" fmla="val 576249"/>
            <a:gd name="adj3" fmla="val 16856158"/>
            <a:gd name="adj4" fmla="val 14967593"/>
            <a:gd name="adj5" fmla="val 9625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99A1C-3FD4-48EA-87EE-962C3B1CB8D8}" type="datetimeFigureOut">
              <a:rPr lang="fr-FR" smtClean="0"/>
              <a:t>04/06/2025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E3BB05-5686-4C31-A857-160A92077F1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8108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AFD8A-6612-4FE5-B3BB-0E3F7E69EA72}" type="datetime1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E2980-A8C5-438F-B5F3-84D3140EDA73}" type="datetime1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4C1D8-F925-455E-881F-C0CAEA97126D}" type="datetime1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F9F48-436D-4871-A6A9-E7CD89DBCC2A}" type="datetime1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87243-31FD-4A2B-B62F-233A21B04DA9}" type="datetime1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0464-D2DD-4525-900C-863740AAE147}" type="datetime1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63A60-108A-4377-8920-C836273FC144}" type="datetime1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4B53F-D232-4E48-A4C9-69B8389FA73B}" type="datetime1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D5396-9C72-400C-A461-86695897DD11}" type="datetime1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CC20-B205-4A09-84EE-40904AC95A28}" type="datetime1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78D63-866F-4CFD-83DA-CB3F7B1900A6}" type="datetime1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6BF98-D6F6-4180-825C-02D9579408C8}" type="datetime1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09623" y="2644163"/>
            <a:ext cx="5918536" cy="2226661"/>
          </a:xfrm>
        </p:spPr>
        <p:txBody>
          <a:bodyPr anchor="b">
            <a:normAutofit/>
          </a:bodyPr>
          <a:lstStyle/>
          <a:p>
            <a:pPr algn="l"/>
            <a:r>
              <a:rPr lang="fr-FR" sz="4200" dirty="0"/>
              <a:t>Projet DWWM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9297" y="5300032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dirty="0" err="1">
                <a:solidFill>
                  <a:schemeClr val="tx1"/>
                </a:solidFill>
              </a:rPr>
              <a:t>Candidat</a:t>
            </a:r>
            <a:r>
              <a:rPr dirty="0">
                <a:solidFill>
                  <a:schemeClr val="tx1"/>
                </a:solidFill>
              </a:rPr>
              <a:t> : Quentin</a:t>
            </a:r>
            <a:r>
              <a:rPr lang="fr-FR" dirty="0">
                <a:solidFill>
                  <a:schemeClr val="tx1"/>
                </a:solidFill>
              </a:rPr>
              <a:t> FABER</a:t>
            </a:r>
          </a:p>
          <a:p>
            <a:pPr algn="l"/>
            <a:r>
              <a:rPr dirty="0">
                <a:solidFill>
                  <a:schemeClr val="tx1"/>
                </a:solidFill>
              </a:rPr>
              <a:t>Certification DWWM</a:t>
            </a:r>
            <a:r>
              <a:rPr lang="fr-FR" dirty="0">
                <a:solidFill>
                  <a:schemeClr val="tx1"/>
                </a:solidFill>
              </a:rPr>
              <a:t> Juin 2025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86B3893C-DD32-A3C6-1A0B-DFA1B339C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3500" dirty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6168" y="1017194"/>
            <a:ext cx="4916510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1700" dirty="0"/>
              <a:t>Contexte du projet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Objectifs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Public visé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Analyse des besoins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Contraintes techniques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Cahier des charges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Architecture technique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Schéma d’architecture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Modélisation des données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Maquettes et UI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Réalisation Frontend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Réalisation Backend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Déploiement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Tests et validation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Résultats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Perspectives d’évolution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Compétences acquises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Zoom fonctionnel</a:t>
            </a:r>
          </a:p>
          <a:p>
            <a:pPr>
              <a:lnSpc>
                <a:spcPct val="90000"/>
              </a:lnSpc>
            </a:pPr>
            <a:r>
              <a:rPr lang="fr-FR" sz="1700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5CE3C-E42D-EB66-35CA-F137493D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B6971B-E25C-A07D-0709-F32C54BFC096}"/>
              </a:ext>
            </a:extLst>
          </p:cNvPr>
          <p:cNvSpPr/>
          <p:nvPr/>
        </p:nvSpPr>
        <p:spPr>
          <a:xfrm>
            <a:off x="-724846" y="125190"/>
            <a:ext cx="6005972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err="1">
                <a:ln w="0"/>
                <a:solidFill>
                  <a:srgbClr val="C4A908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Sommaire</a:t>
            </a:r>
            <a:endParaRPr lang="en-US" sz="5400" dirty="0">
              <a:ln w="0"/>
              <a:solidFill>
                <a:srgbClr val="C4A908"/>
              </a:solidFill>
              <a:effectLst>
                <a:reflection blurRad="6350" stA="53000" endA="300" endPos="35500" dir="5400000" sy="-90000" algn="bl" rotWithShape="0"/>
              </a:effectLst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3538" y="1446045"/>
            <a:ext cx="4916510" cy="2827375"/>
          </a:xfrm>
          <a:noFill/>
        </p:spPr>
        <p:txBody>
          <a:bodyPr anchor="ctr">
            <a:normAutofit/>
          </a:bodyPr>
          <a:lstStyle/>
          <a:p>
            <a:r>
              <a:rPr lang="fr-FR" sz="1700" b="1" dirty="0"/>
              <a:t>Création d'une plateforme complète pour la gestion photo et œuvres graphiques.</a:t>
            </a:r>
          </a:p>
          <a:p>
            <a:endParaRPr lang="fr-FR" sz="1700" b="1" dirty="0"/>
          </a:p>
          <a:p>
            <a:r>
              <a:rPr lang="fr-FR" sz="1700" b="1" dirty="0"/>
              <a:t>Centralisation des services photo, galerie, tirage, paiement et gestion admin.</a:t>
            </a:r>
          </a:p>
          <a:p>
            <a:endParaRPr lang="fr-FR" sz="1700" b="1" dirty="0"/>
          </a:p>
          <a:p>
            <a:r>
              <a:rPr lang="fr-FR" sz="1700" b="1" dirty="0"/>
              <a:t>Projet réalisé dans le cadre de la formation DWWM.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F366F7-84FC-6C88-547E-7453E887FB89}"/>
              </a:ext>
            </a:extLst>
          </p:cNvPr>
          <p:cNvSpPr/>
          <p:nvPr/>
        </p:nvSpPr>
        <p:spPr>
          <a:xfrm>
            <a:off x="217546" y="9531"/>
            <a:ext cx="7234674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err="1">
                <a:ln w="0"/>
                <a:solidFill>
                  <a:srgbClr val="C4A908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Contexte</a:t>
            </a:r>
            <a:r>
              <a:rPr lang="en-US" sz="5400" dirty="0">
                <a:ln w="0"/>
                <a:solidFill>
                  <a:srgbClr val="C4A908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 du </a:t>
            </a:r>
            <a:r>
              <a:rPr lang="en-US" sz="5400" dirty="0" err="1">
                <a:ln w="0"/>
                <a:solidFill>
                  <a:srgbClr val="C4A908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Projet</a:t>
            </a:r>
            <a:endParaRPr lang="en-US" sz="5400" dirty="0">
              <a:ln w="0"/>
              <a:solidFill>
                <a:srgbClr val="C4A908"/>
              </a:solidFill>
              <a:effectLst>
                <a:reflection blurRad="6350" stA="53000" endA="300" endPos="35500" dir="5400000" sy="-90000" algn="bl" rotWithShape="0"/>
              </a:effectLst>
              <a:latin typeface="Algerian" panose="04020705040A02060702" pitchFamily="8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5552D-A621-572A-4063-CBC95D92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5E725-99BC-F07B-7CCC-21FDD5F4C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883" y="4089626"/>
            <a:ext cx="5056065" cy="2449286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DB20C-56A7-ACDE-2635-A449100FD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FFA423-13B4-EB5C-5ABF-BC1A42BF3953}"/>
              </a:ext>
            </a:extLst>
          </p:cNvPr>
          <p:cNvSpPr/>
          <p:nvPr/>
        </p:nvSpPr>
        <p:spPr>
          <a:xfrm>
            <a:off x="123005" y="0"/>
            <a:ext cx="6901249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C4A908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Objectif du </a:t>
            </a:r>
            <a:r>
              <a:rPr lang="en-US" sz="5400" dirty="0" err="1">
                <a:ln w="0"/>
                <a:solidFill>
                  <a:srgbClr val="C4A908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projet</a:t>
            </a:r>
            <a:endParaRPr lang="en-US" sz="5400" dirty="0">
              <a:ln w="0"/>
              <a:solidFill>
                <a:srgbClr val="C4A908"/>
              </a:solidFill>
              <a:effectLst>
                <a:reflection blurRad="6350" stA="53000" endA="300" endPos="35500" dir="5400000" sy="-90000" algn="bl" rotWithShape="0"/>
              </a:effectLst>
              <a:latin typeface="Algerian" panose="04020705040A02060702" pitchFamily="8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345C41E-7628-FB4A-4EA6-AFD3FCC56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18" y="1387339"/>
            <a:ext cx="2997951" cy="15016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AAFCD09-E6E8-D261-DA60-94EB6B8D3F00}"/>
              </a:ext>
            </a:extLst>
          </p:cNvPr>
          <p:cNvSpPr txBox="1"/>
          <p:nvPr/>
        </p:nvSpPr>
        <p:spPr>
          <a:xfrm>
            <a:off x="3491349" y="1584174"/>
            <a:ext cx="47495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/>
              <a:t>Mettre en valeur les œuvres photographiques et photo-graphistes du client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0BC597A-A7A9-1822-519D-E9179B163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698" y="3135645"/>
            <a:ext cx="2940377" cy="15016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B64E0A4-4207-3B30-BDEA-8F7A67425F81}"/>
              </a:ext>
            </a:extLst>
          </p:cNvPr>
          <p:cNvSpPr txBox="1"/>
          <p:nvPr/>
        </p:nvSpPr>
        <p:spPr>
          <a:xfrm>
            <a:off x="4189444" y="3671657"/>
            <a:ext cx="43873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/>
              <a:t>Ajout au panier et vente en ligne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471125B-E4D6-627C-4455-2807F99CF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645" y="4907410"/>
            <a:ext cx="3200940" cy="181406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39988F4-9992-AA47-C266-3FA658C8854D}"/>
              </a:ext>
            </a:extLst>
          </p:cNvPr>
          <p:cNvSpPr txBox="1"/>
          <p:nvPr/>
        </p:nvSpPr>
        <p:spPr>
          <a:xfrm>
            <a:off x="5572074" y="5380004"/>
            <a:ext cx="3200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Gestion autonome via une interface admin sécurisée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fr-FR" sz="3500">
                <a:solidFill>
                  <a:srgbClr val="FFFFFF"/>
                </a:solidFill>
              </a:rPr>
              <a:t>Public visé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72690B-5B07-00BF-C9F3-85F4A3C113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726427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CC9DA-8F47-9365-807B-43D473592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des besoins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Galeries de photos et œuvres graphiques</a:t>
            </a:r>
          </a:p>
          <a:p>
            <a:r>
              <a:t>Tirage en ligne avec choix de formats</a:t>
            </a:r>
          </a:p>
          <a:p>
            <a:r>
              <a:t>Panier et paiement en ligne sécurisé (Stripe)</a:t>
            </a:r>
          </a:p>
          <a:p>
            <a:r>
              <a:t>Gestion admin des contenus, tarifs et événements</a:t>
            </a:r>
          </a:p>
          <a:p>
            <a:r>
              <a:t>Espace client sécurisé avec authentification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39A9F-42E5-5392-ED4C-594C694BB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Contraintes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responsive mobile / desktop</a:t>
            </a:r>
          </a:p>
          <a:p>
            <a:r>
              <a:t>Respect de l'accessibilité (images, contrastes, navigation clavier)</a:t>
            </a:r>
          </a:p>
          <a:p>
            <a:r>
              <a:t>Conformité RGPD (données clients sécurisées)</a:t>
            </a:r>
          </a:p>
          <a:p>
            <a:r>
              <a:t>Optimisation du SEO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A7737-57AE-8D08-ED86-346EE9D7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Cahier des charges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: React 19, Vite, Tailwind, Zustand</a:t>
            </a:r>
          </a:p>
          <a:p>
            <a:r>
              <a:t>Backend : Node.js, Express, MongoDB, JWT</a:t>
            </a:r>
          </a:p>
          <a:p>
            <a:r>
              <a:t>Paiement : Stripe API</a:t>
            </a:r>
          </a:p>
          <a:p>
            <a:r>
              <a:t>Déploiement : Docker / Docker Compose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1BD11-8DB2-2BB7-652D-3B789810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fullstack :</a:t>
            </a:r>
          </a:p>
          <a:p>
            <a:r>
              <a:t>- Frontend React (photographie/)</a:t>
            </a:r>
          </a:p>
          <a:p>
            <a:r>
              <a:t>- Backend Express (backend/)</a:t>
            </a:r>
          </a:p>
          <a:p>
            <a:r>
              <a:t>- BDD MongoDB + Neo4j (Docker)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DC1B6-9F05-7A28-E057-5D15FC51F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Modélisation des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Collections principales MongoDB :</a:t>
            </a:r>
          </a:p>
          <a:p>
            <a:r>
              <a:t>- Users</a:t>
            </a:r>
          </a:p>
          <a:p>
            <a:r>
              <a:t>- Galeries</a:t>
            </a:r>
          </a:p>
          <a:p>
            <a:r>
              <a:t>- Œuvres graphiques</a:t>
            </a:r>
          </a:p>
          <a:p>
            <a:r>
              <a:t>- Événements</a:t>
            </a:r>
          </a:p>
          <a:p>
            <a:r>
              <a:t>- Paniers</a:t>
            </a:r>
          </a:p>
          <a:p>
            <a:r>
              <a:t>- Paiements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E181B-8CEC-2A78-96C8-047153E0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Réalisation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19 avec TypeScript et Vite</a:t>
            </a:r>
          </a:p>
          <a:p>
            <a:r>
              <a:t>Gestion du routing avec React Router</a:t>
            </a:r>
          </a:p>
          <a:p>
            <a:r>
              <a:t>Formulaires validés par React Hook Form + Zod</a:t>
            </a:r>
          </a:p>
          <a:p>
            <a:r>
              <a:t>Zustand pour l'état global (auth, panier, choix utilisateur)</a:t>
            </a:r>
          </a:p>
          <a:p>
            <a:r>
              <a:t>React Query pour le cache des données API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276D8-DCE5-41D3-5EC1-E56182A7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Réalisation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REST sécurisée avec Express</a:t>
            </a:r>
          </a:p>
          <a:p>
            <a:r>
              <a:t>Authentification JWT sécurisée</a:t>
            </a:r>
          </a:p>
          <a:p>
            <a:r>
              <a:t>Sécurisation des routes admin</a:t>
            </a:r>
          </a:p>
          <a:p>
            <a:r>
              <a:t>Gestion des uploads avec Multer</a:t>
            </a:r>
          </a:p>
          <a:p>
            <a:r>
              <a:t>Contrôle des données avec Mongoose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CDF26-7ACB-7443-4592-CA290E96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Déploiement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Compose multi-services (MongoDB, Neo4j, Backend, Mongo Express)</a:t>
            </a:r>
          </a:p>
          <a:p>
            <a:r>
              <a:t>Volumes persistants pour les données</a:t>
            </a:r>
          </a:p>
          <a:p>
            <a:r>
              <a:t>Proxy Vite configuré pour développement local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B9FC3-A179-328F-3DC4-380F68722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Tests et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Tests manuels fonctionnels et utilisateurs</a:t>
            </a:r>
          </a:p>
          <a:p>
            <a:r>
              <a:t>Vérification de chaque flux (ajout au panier, paiement, validation)</a:t>
            </a:r>
          </a:p>
          <a:p>
            <a:r>
              <a:t>Correction des bugs d’intégration au fur et à mesure du projet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CD7E3-8ECD-D9F3-8080-860C43D43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Résultats obtenus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Interface fonctionnelle et ergonomique</a:t>
            </a:r>
          </a:p>
          <a:p>
            <a:r>
              <a:t>Gestion complète des contenus</a:t>
            </a:r>
          </a:p>
          <a:p>
            <a:r>
              <a:t>Paiement sécurisé opérationnel (Stripe)</a:t>
            </a:r>
          </a:p>
          <a:p>
            <a:r>
              <a:t>Gestion simplifiée par l’administrateur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E41CE-ADF8-08A8-DAF5-C8B015CA8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Perspectives d’évolution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Ajout d’un blog d’actualité</a:t>
            </a:r>
          </a:p>
          <a:p>
            <a:r>
              <a:t>Module de statistiques d’activité</a:t>
            </a:r>
          </a:p>
          <a:p>
            <a:r>
              <a:t>Historique de commandes pour les clients</a:t>
            </a:r>
          </a:p>
          <a:p>
            <a:r>
              <a:t>Mise en place de tests automatisés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BD961-D731-8E4E-B3BB-C231B8D6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Compétences acquises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Développement fullstack TypeScript MERN</a:t>
            </a:r>
          </a:p>
          <a:p>
            <a:r>
              <a:t>Gestion d’état complexe avec Zustand et React Query</a:t>
            </a:r>
          </a:p>
          <a:p>
            <a:r>
              <a:t>Sécurisation complète des routes API</a:t>
            </a:r>
          </a:p>
          <a:p>
            <a:r>
              <a:t>Dockerisation d’une application complète</a:t>
            </a:r>
          </a:p>
          <a:p>
            <a:r>
              <a:t>Optimisation SEO et accessibilité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71613-B07D-C454-9401-31AD4B6DC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Zoom Fonctionnalité : Galerie photo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Affichage dynamique des œuvres</a:t>
            </a:r>
          </a:p>
          <a:p>
            <a:r>
              <a:t>Ajout au panier d’un article via la sélection des formats</a:t>
            </a:r>
          </a:p>
          <a:p>
            <a:r>
              <a:t>Modal de choix de format intégré</a:t>
            </a:r>
          </a:p>
          <a:p>
            <a:r>
              <a:t>Validation instantanée avec feedback utilisateur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5DD15-F369-2424-5E9B-30F6F439E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générale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 réalisé en autonomie complète (analyse, conception, développement, tests, déploiement)</a:t>
            </a:r>
          </a:p>
          <a:p>
            <a:r>
              <a:t>Approche professionnelle complète respectant le cycle de vie d’un projet web</a:t>
            </a:r>
          </a:p>
          <a:p>
            <a:r>
              <a:t>Projet opérationnel prêt à être présenté et mis en production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3EFD4-B9FF-53A0-7FBE-796F0F3D3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</TotalTime>
  <Words>555</Words>
  <Application>Microsoft Office PowerPoint</Application>
  <PresentationFormat>On-screen Show (4:3)</PresentationFormat>
  <Paragraphs>131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Algerian</vt:lpstr>
      <vt:lpstr>Aptos</vt:lpstr>
      <vt:lpstr>Arial</vt:lpstr>
      <vt:lpstr>Calibri</vt:lpstr>
      <vt:lpstr>Office Theme</vt:lpstr>
      <vt:lpstr>Projet DWWM</vt:lpstr>
      <vt:lpstr>Sommaire</vt:lpstr>
      <vt:lpstr>PowerPoint Presentation</vt:lpstr>
      <vt:lpstr>PowerPoint Presentation</vt:lpstr>
      <vt:lpstr>Public visé</vt:lpstr>
      <vt:lpstr>Analyse des besoins</vt:lpstr>
      <vt:lpstr>Contraintes techniques</vt:lpstr>
      <vt:lpstr>Cahier des charges</vt:lpstr>
      <vt:lpstr>Architecture technique</vt:lpstr>
      <vt:lpstr>Modélisation des données</vt:lpstr>
      <vt:lpstr>Réalisation Frontend</vt:lpstr>
      <vt:lpstr>Réalisation Backend</vt:lpstr>
      <vt:lpstr>Déploiement</vt:lpstr>
      <vt:lpstr>Tests et validation</vt:lpstr>
      <vt:lpstr>Résultats obtenus</vt:lpstr>
      <vt:lpstr>Perspectives d’évolution</vt:lpstr>
      <vt:lpstr>Compétences acquises</vt:lpstr>
      <vt:lpstr>Zoom Fonctionnalité : Galerie photo</vt:lpstr>
      <vt:lpstr>Conclusion générale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quentin faber</dc:creator>
  <cp:keywords/>
  <dc:description>generated using python-pptx</dc:description>
  <cp:lastModifiedBy>Faber Quentin</cp:lastModifiedBy>
  <cp:revision>3</cp:revision>
  <dcterms:created xsi:type="dcterms:W3CDTF">2013-01-27T09:14:16Z</dcterms:created>
  <dcterms:modified xsi:type="dcterms:W3CDTF">2025-06-04T13:41:29Z</dcterms:modified>
  <cp:category/>
</cp:coreProperties>
</file>